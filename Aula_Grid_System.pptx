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pen Sauce" charset="1" panose="00000500000000000000"/>
      <p:regular r:id="rId17"/>
    </p:embeddedFont>
    <p:embeddedFont>
      <p:font typeface="Open Sauce Light" charset="1" panose="000004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font" Target="fonts/font18.fntdata"/><Relationship Id="rId8" Type="http://schemas.openxmlformats.org/officeDocument/2006/relationships/slide" Target="slides/slide3.xml"/><Relationship Id="rId3" Type="http://schemas.openxmlformats.org/officeDocument/2006/relationships/viewProps" Target="viewProps.xml"/><Relationship Id="rId21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font" Target="fonts/font17.fntdata"/><Relationship Id="rId7" Type="http://schemas.openxmlformats.org/officeDocument/2006/relationships/slide" Target="slides/slide2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customXml" Target="../customXml/item1.xml"/><Relationship Id="rId14" Type="http://schemas.openxmlformats.org/officeDocument/2006/relationships/slide" Target="slides/slide9.xml"/><Relationship Id="rId4" Type="http://schemas.openxmlformats.org/officeDocument/2006/relationships/theme" Target="theme/theme1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VAHA4VRnaIY.mp4" Type="http://schemas.openxmlformats.org/officeDocument/2006/relationships/video"/><Relationship Id="rId4" Target="../media/VAHA4VRnaIY.mp4" Type="http://schemas.microsoft.com/office/2007/relationships/media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8750" y="1598526"/>
            <a:ext cx="15430500" cy="525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Programação Web II - Frameworks CSS e Grid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08613" y="7426637"/>
            <a:ext cx="11880113" cy="1216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3"/>
              </a:lnSpc>
            </a:pPr>
          </a:p>
          <a:p>
            <a:pPr algn="ctr">
              <a:lnSpc>
                <a:spcPts val="4903"/>
              </a:lnSpc>
              <a:spcBef>
                <a:spcPct val="0"/>
              </a:spcBef>
            </a:pPr>
            <a:r>
              <a:rPr lang="en-US" sz="3502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ETEC Zona Leste - 2026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36694" y="2997459"/>
            <a:ext cx="3032449" cy="3032449"/>
          </a:xfrm>
          <a:custGeom>
            <a:avLst/>
            <a:gdLst/>
            <a:ahLst/>
            <a:cxnLst/>
            <a:rect r="r" b="b" t="t" l="l"/>
            <a:pathLst>
              <a:path h="3032449" w="3032449">
                <a:moveTo>
                  <a:pt x="0" y="0"/>
                </a:moveTo>
                <a:lnTo>
                  <a:pt x="3032449" y="0"/>
                </a:lnTo>
                <a:lnTo>
                  <a:pt x="3032449" y="3032449"/>
                </a:lnTo>
                <a:lnTo>
                  <a:pt x="0" y="30324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2380" y="904875"/>
            <a:ext cx="851535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Frameworks CSS?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12921" y="2802421"/>
            <a:ext cx="8854810" cy="4202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2372" indent="-366186" lvl="1">
              <a:lnSpc>
                <a:spcPts val="4749"/>
              </a:lnSpc>
              <a:buFont typeface="Arial"/>
              <a:buChar char="•"/>
            </a:pPr>
            <a:r>
              <a:rPr lang="en-US" sz="339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Temos disponível para uso, frameworks CSS, eles nos ajudam com:</a:t>
            </a:r>
          </a:p>
          <a:p>
            <a:pPr algn="l" marL="1464743" indent="-488248" lvl="2">
              <a:lnSpc>
                <a:spcPts val="4749"/>
              </a:lnSpc>
              <a:buFont typeface="Arial"/>
              <a:buChar char="⚬"/>
            </a:pPr>
            <a:r>
              <a:rPr lang="en-US" sz="339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Padronização de código;</a:t>
            </a:r>
          </a:p>
          <a:p>
            <a:pPr algn="l" marL="1464743" indent="-488248" lvl="2">
              <a:lnSpc>
                <a:spcPts val="4749"/>
              </a:lnSpc>
              <a:buFont typeface="Arial"/>
              <a:buChar char="⚬"/>
            </a:pPr>
            <a:r>
              <a:rPr lang="en-US" sz="339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Compatibilidade Cross-Browser;</a:t>
            </a:r>
          </a:p>
          <a:p>
            <a:pPr algn="l" marL="1464743" indent="-488248" lvl="2">
              <a:lnSpc>
                <a:spcPts val="4749"/>
              </a:lnSpc>
              <a:buFont typeface="Arial"/>
              <a:buChar char="⚬"/>
            </a:pPr>
            <a:r>
              <a:rPr lang="en-US" sz="339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Componentes prontos para uso.</a:t>
            </a:r>
          </a:p>
          <a:p>
            <a:pPr algn="l">
              <a:lnSpc>
                <a:spcPts val="474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2380" y="7004841"/>
            <a:ext cx="5454794" cy="3030441"/>
          </a:xfrm>
          <a:custGeom>
            <a:avLst/>
            <a:gdLst/>
            <a:ahLst/>
            <a:cxnLst/>
            <a:rect r="r" b="b" t="t" l="l"/>
            <a:pathLst>
              <a:path h="3030441" w="5454794">
                <a:moveTo>
                  <a:pt x="0" y="0"/>
                </a:moveTo>
                <a:lnTo>
                  <a:pt x="5454795" y="0"/>
                </a:lnTo>
                <a:lnTo>
                  <a:pt x="5454795" y="3030442"/>
                </a:lnTo>
                <a:lnTo>
                  <a:pt x="0" y="3030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55484" y="7004841"/>
            <a:ext cx="2831841" cy="2831841"/>
          </a:xfrm>
          <a:custGeom>
            <a:avLst/>
            <a:gdLst/>
            <a:ahLst/>
            <a:cxnLst/>
            <a:rect r="r" b="b" t="t" l="l"/>
            <a:pathLst>
              <a:path h="2831841" w="2831841">
                <a:moveTo>
                  <a:pt x="0" y="0"/>
                </a:moveTo>
                <a:lnTo>
                  <a:pt x="2831841" y="0"/>
                </a:lnTo>
                <a:lnTo>
                  <a:pt x="2831841" y="2831841"/>
                </a:lnTo>
                <a:lnTo>
                  <a:pt x="0" y="28318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52380" y="904875"/>
            <a:ext cx="12395472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Tailwind e Bootstrap?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802421"/>
            <a:ext cx="8854810" cy="4202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2372" indent="-366186" lvl="1">
              <a:lnSpc>
                <a:spcPts val="4749"/>
              </a:lnSpc>
              <a:buFont typeface="Arial"/>
              <a:buChar char="•"/>
            </a:pPr>
            <a:r>
              <a:rPr lang="en-US" sz="339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 Bootstrap temos componentes prontos e pré-estilizados. Ou seja, estão prontos para uso.</a:t>
            </a:r>
          </a:p>
          <a:p>
            <a:pPr algn="l" marL="732372" indent="-366186" lvl="1">
              <a:lnSpc>
                <a:spcPts val="4749"/>
              </a:lnSpc>
              <a:buFont typeface="Arial"/>
              <a:buChar char="•"/>
            </a:pPr>
            <a:r>
              <a:rPr lang="en-US" sz="339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Para designs personalizados, é necessário sobrescrever componentes</a:t>
            </a:r>
          </a:p>
          <a:p>
            <a:pPr algn="l">
              <a:lnSpc>
                <a:spcPts val="474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2802421"/>
            <a:ext cx="8854810" cy="2996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2372" indent="-366186" lvl="1">
              <a:lnSpc>
                <a:spcPts val="4749"/>
              </a:lnSpc>
              <a:buFont typeface="Arial"/>
              <a:buChar char="•"/>
            </a:pPr>
            <a:r>
              <a:rPr lang="en-US" sz="3392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No Tailwind é nos fornecido classes ed baixo nível;</a:t>
            </a:r>
          </a:p>
          <a:p>
            <a:pPr algn="l" marL="732372" indent="-366186" lvl="1">
              <a:lnSpc>
                <a:spcPts val="4749"/>
              </a:lnSpc>
              <a:buFont typeface="Arial"/>
              <a:buChar char="•"/>
            </a:pPr>
            <a:r>
              <a:rPr lang="en-US" sz="3392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 Tailwind lê o arquivo html e interpreta os componentes, aplicando estilo sem sair do arquivo .html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55100" y="2838431"/>
            <a:ext cx="6794810" cy="3328579"/>
          </a:xfrm>
          <a:custGeom>
            <a:avLst/>
            <a:gdLst/>
            <a:ahLst/>
            <a:cxnLst/>
            <a:rect r="r" b="b" t="t" l="l"/>
            <a:pathLst>
              <a:path h="3328579" w="6794810">
                <a:moveTo>
                  <a:pt x="0" y="0"/>
                </a:moveTo>
                <a:lnTo>
                  <a:pt x="6794810" y="0"/>
                </a:lnTo>
                <a:lnTo>
                  <a:pt x="6794810" y="3328580"/>
                </a:lnTo>
                <a:lnTo>
                  <a:pt x="0" y="33285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8" r="0" b="-9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851535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o Vite?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1495" y="2951508"/>
            <a:ext cx="7831079" cy="479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 Vite é um servidor de desenvolvimento web;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Criado pelo criador do Vue.js, ele melhora o bundle(empacotamento) de projetos web;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Com o Vite não precisamos rebuildar um projeto pós-alterações;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Há suporte para frameworks front-end e projetos puros.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06444" y="3086100"/>
            <a:ext cx="3733246" cy="4114800"/>
          </a:xfrm>
          <a:custGeom>
            <a:avLst/>
            <a:gdLst/>
            <a:ahLst/>
            <a:cxnLst/>
            <a:rect r="r" b="b" t="t" l="l"/>
            <a:pathLst>
              <a:path h="4114800" w="3733246">
                <a:moveTo>
                  <a:pt x="0" y="0"/>
                </a:moveTo>
                <a:lnTo>
                  <a:pt x="3733246" y="0"/>
                </a:lnTo>
                <a:lnTo>
                  <a:pt x="37332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2380" y="904875"/>
            <a:ext cx="851535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NodeJs: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6791" y="2802421"/>
            <a:ext cx="9143328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É um ambiente de desenvolvimento para a linguagem Javascript;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Foi criado com a engine V8 do Google;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Permite com que o Javascript seja executado fora do browser;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Dentro do node, utilizamos o npm para gerenciamento de pacotes.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70163" y="3493923"/>
            <a:ext cx="5228919" cy="3032773"/>
          </a:xfrm>
          <a:custGeom>
            <a:avLst/>
            <a:gdLst/>
            <a:ahLst/>
            <a:cxnLst/>
            <a:rect r="r" b="b" t="t" l="l"/>
            <a:pathLst>
              <a:path h="3032773" w="5228919">
                <a:moveTo>
                  <a:pt x="0" y="0"/>
                </a:moveTo>
                <a:lnTo>
                  <a:pt x="5228919" y="0"/>
                </a:lnTo>
                <a:lnTo>
                  <a:pt x="5228919" y="3032773"/>
                </a:lnTo>
                <a:lnTo>
                  <a:pt x="0" y="30327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2380" y="904875"/>
            <a:ext cx="851535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Grid System: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6055" y="2648371"/>
            <a:ext cx="7808234" cy="585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Grid System é um padrão baseado em linhas e colunas, como se fosse uma tabela;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 Grid System facilita o desenvolvimento de designs sem utilizar float ou posicionamento;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 Grid é composto por: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Grid Container: O container principal do grid;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Grid Itens: os filhos do grid container.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68434" y="3048161"/>
            <a:ext cx="8377502" cy="4495926"/>
          </a:xfrm>
          <a:custGeom>
            <a:avLst/>
            <a:gdLst/>
            <a:ahLst/>
            <a:cxnLst/>
            <a:rect r="r" b="b" t="t" l="l"/>
            <a:pathLst>
              <a:path h="4495926" w="8377502">
                <a:moveTo>
                  <a:pt x="0" y="0"/>
                </a:moveTo>
                <a:lnTo>
                  <a:pt x="8377503" y="0"/>
                </a:lnTo>
                <a:lnTo>
                  <a:pt x="8377503" y="4495927"/>
                </a:lnTo>
                <a:lnTo>
                  <a:pt x="0" y="44959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2380" y="904875"/>
            <a:ext cx="12546968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padrão das 12 colunas: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75610" y="3268455"/>
            <a:ext cx="7668390" cy="3683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9812" indent="-374906" lvl="1">
              <a:lnSpc>
                <a:spcPts val="4862"/>
              </a:lnSpc>
              <a:buFont typeface="Arial"/>
              <a:buChar char="•"/>
            </a:pPr>
            <a:r>
              <a:rPr lang="en-US" sz="347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Por que 12 colunas?</a:t>
            </a:r>
          </a:p>
          <a:p>
            <a:pPr algn="l" marL="1499624" indent="-499875" lvl="2">
              <a:lnSpc>
                <a:spcPts val="4862"/>
              </a:lnSpc>
              <a:buFont typeface="Arial"/>
              <a:buChar char="⚬"/>
            </a:pPr>
            <a:r>
              <a:rPr lang="en-US" sz="347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número 12 é divisivel por 2, 3,4 e 6, podendo aumentar a complexidade de layouts de forma harmonica;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39835" y="5522544"/>
            <a:ext cx="3426264" cy="3569025"/>
          </a:xfrm>
          <a:custGeom>
            <a:avLst/>
            <a:gdLst/>
            <a:ahLst/>
            <a:cxnLst/>
            <a:rect r="r" b="b" t="t" l="l"/>
            <a:pathLst>
              <a:path h="3569025" w="3426264">
                <a:moveTo>
                  <a:pt x="0" y="0"/>
                </a:moveTo>
                <a:lnTo>
                  <a:pt x="3426264" y="0"/>
                </a:lnTo>
                <a:lnTo>
                  <a:pt x="3426264" y="3569025"/>
                </a:lnTo>
                <a:lnTo>
                  <a:pt x="0" y="35690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2583" y="3335130"/>
            <a:ext cx="3357251" cy="3357251"/>
          </a:xfrm>
          <a:custGeom>
            <a:avLst/>
            <a:gdLst/>
            <a:ahLst/>
            <a:cxnLst/>
            <a:rect r="r" b="b" t="t" l="l"/>
            <a:pathLst>
              <a:path h="3357251" w="3357251">
                <a:moveTo>
                  <a:pt x="0" y="0"/>
                </a:moveTo>
                <a:lnTo>
                  <a:pt x="3357252" y="0"/>
                </a:lnTo>
                <a:lnTo>
                  <a:pt x="3357252" y="3357252"/>
                </a:lnTo>
                <a:lnTo>
                  <a:pt x="0" y="33572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52380" y="904875"/>
            <a:ext cx="12546968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Mobile-First??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75610" y="3268455"/>
            <a:ext cx="7668390" cy="491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9812" indent="-374906" lvl="1">
              <a:lnSpc>
                <a:spcPts val="4862"/>
              </a:lnSpc>
              <a:buFont typeface="Arial"/>
              <a:buChar char="•"/>
            </a:pPr>
            <a:r>
              <a:rPr lang="en-US" sz="347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Mobile-First é o desenvolvimento guiado primeiramente para telas menores, com o layout para 1 coluna só;</a:t>
            </a:r>
          </a:p>
          <a:p>
            <a:pPr algn="l" marL="749812" indent="-374906" lvl="1">
              <a:lnSpc>
                <a:spcPts val="4862"/>
              </a:lnSpc>
              <a:buFont typeface="Arial"/>
              <a:buChar char="•"/>
            </a:pPr>
            <a:r>
              <a:rPr lang="en-US" sz="347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Quanto maior a resolução, maior o número de colunas utilizadas.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093667" y="3037564"/>
          <a:ext cx="7543800" cy="3143250"/>
        </p:xfrm>
        <a:graphic>
          <a:graphicData uri="http://schemas.openxmlformats.org/presentationml/2006/ole">
            <p:oleObj imgW="9042400" imgH="4648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652380" y="904875"/>
            <a:ext cx="12546968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Tabela de resoluções: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52380" y="904875"/>
            <a:ext cx="851535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Referências: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12921" y="2802421"/>
            <a:ext cx="15767774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https://getbootstrap.com/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Mozilla Developer: https://developer.mozilla.org/en-US/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https://vite.dev/guide/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https://www.w3schools.com/css/css_grid.asp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67" r="0" b="67"/>
          <a:stretch>
            <a:fillRect/>
          </a:stretch>
        </p:blipFill>
        <p:spPr>
          <a:xfrm flipH="false" flipV="false" rot="0">
            <a:off x="5023532" y="2769420"/>
            <a:ext cx="8709906" cy="648888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428750" y="962025"/>
            <a:ext cx="1543050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72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Obrigado!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6936D1B5E4C54EA94FFF58B25542D5" ma:contentTypeVersion="3" ma:contentTypeDescription="Create a new document." ma:contentTypeScope="" ma:versionID="5931c730dbee6f5b419b119bf36d177a">
  <xsd:schema xmlns:xsd="http://www.w3.org/2001/XMLSchema" xmlns:xs="http://www.w3.org/2001/XMLSchema" xmlns:p="http://schemas.microsoft.com/office/2006/metadata/properties" xmlns:ns2="a97ea620-bd91-4936-8934-7957480f18b3" targetNamespace="http://schemas.microsoft.com/office/2006/metadata/properties" ma:root="true" ma:fieldsID="cd6e937b7fb183c0ecfac49bdc400d81" ns2:_="">
    <xsd:import namespace="a97ea620-bd91-4936-8934-7957480f18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7ea620-bd91-4936-8934-7957480f18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238B89E-4C17-4454-85E0-E527B6925247}"/>
</file>

<file path=customXml/itemProps2.xml><?xml version="1.0" encoding="utf-8"?>
<ds:datastoreItem xmlns:ds="http://schemas.openxmlformats.org/officeDocument/2006/customXml" ds:itemID="{BADB9D8F-CF47-4F6E-8144-C5CE17864D83}"/>
</file>

<file path=customXml/itemProps3.xml><?xml version="1.0" encoding="utf-8"?>
<ds:datastoreItem xmlns:ds="http://schemas.openxmlformats.org/officeDocument/2006/customXml" ds:itemID="{BDCE0D32-DD3C-4E0F-8C6F-192ECB242C4D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PWII 2 Sem 2026</dc:title>
  <cp:revision>1</cp:revision>
  <dcterms:created xsi:type="dcterms:W3CDTF">2006-08-16T00:00:00Z</dcterms:created>
  <dcterms:modified xsi:type="dcterms:W3CDTF">2011-08-01T06:04:30Z</dcterms:modified>
  <dc:identifier>DAHRSmWAoHI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0x010100336936D1B5E4C54EA94FFF58B25542D5</vt:lpwstr>
  </property>
</Properties>
</file>