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Inter" panose="020B0604020202020204" charset="0"/>
      <p:regular r:id="rId22"/>
    </p:embeddedFont>
    <p:embeddedFont>
      <p:font typeface="Inter 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EDUARDA ALVES DOS SANTOS" userId="S::maria.santos451@aluno.cps.sp.gov.br::cbf41173-5a1e-41cf-b72c-7a667970c2d0" providerId="AD" clId="Web-{6C7340EB-37A4-4433-EE43-26F0AF320283}"/>
    <pc:docChg chg="modSld">
      <pc:chgData name="MARIA EDUARDA ALVES DOS SANTOS" userId="S::maria.santos451@aluno.cps.sp.gov.br::cbf41173-5a1e-41cf-b72c-7a667970c2d0" providerId="AD" clId="Web-{6C7340EB-37A4-4433-EE43-26F0AF320283}" dt="2026-08-04T23:05:48.523" v="0" actId="1076"/>
      <pc:docMkLst>
        <pc:docMk/>
      </pc:docMkLst>
      <pc:sldChg chg="modSp">
        <pc:chgData name="MARIA EDUARDA ALVES DOS SANTOS" userId="S::maria.santos451@aluno.cps.sp.gov.br::cbf41173-5a1e-41cf-b72c-7a667970c2d0" providerId="AD" clId="Web-{6C7340EB-37A4-4433-EE43-26F0AF320283}" dt="2026-08-04T23:05:48.523" v="0" actId="1076"/>
        <pc:sldMkLst>
          <pc:docMk/>
          <pc:sldMk cId="0" sldId="257"/>
        </pc:sldMkLst>
        <pc:spChg chg="mod">
          <ac:chgData name="MARIA EDUARDA ALVES DOS SANTOS" userId="S::maria.santos451@aluno.cps.sp.gov.br::cbf41173-5a1e-41cf-b72c-7a667970c2d0" providerId="AD" clId="Web-{6C7340EB-37A4-4433-EE43-26F0AF320283}" dt="2026-08-04T23:05:48.523" v="0" actId="1076"/>
          <ac:spMkLst>
            <pc:docMk/>
            <pc:sldMk cId="0" sldId="257"/>
            <ac:spMk id="4" creationId="{00000000-0000-0000-0000-000000000000}"/>
          </ac:spMkLst>
        </pc:spChg>
      </pc:sldChg>
    </pc:docChg>
  </pc:docChgLst>
  <pc:docChgLst>
    <pc:chgData name="MARIA EDUARDA ALVES DOS SANTOS" userId="S::maria.santos451@aluno.cps.sp.gov.br::cbf41173-5a1e-41cf-b72c-7a667970c2d0" providerId="AD" clId="Web-{BA1A4B53-6817-FE68-D66E-D835AC18D04E}"/>
    <pc:docChg chg="modSld">
      <pc:chgData name="MARIA EDUARDA ALVES DOS SANTOS" userId="S::maria.santos451@aluno.cps.sp.gov.br::cbf41173-5a1e-41cf-b72c-7a667970c2d0" providerId="AD" clId="Web-{BA1A4B53-6817-FE68-D66E-D835AC18D04E}" dt="2026-08-04T23:06:00.673" v="0" actId="1076"/>
      <pc:docMkLst>
        <pc:docMk/>
      </pc:docMkLst>
      <pc:sldChg chg="modSp">
        <pc:chgData name="MARIA EDUARDA ALVES DOS SANTOS" userId="S::maria.santos451@aluno.cps.sp.gov.br::cbf41173-5a1e-41cf-b72c-7a667970c2d0" providerId="AD" clId="Web-{BA1A4B53-6817-FE68-D66E-D835AC18D04E}" dt="2026-08-04T23:06:00.673" v="0" actId="1076"/>
        <pc:sldMkLst>
          <pc:docMk/>
          <pc:sldMk cId="0" sldId="257"/>
        </pc:sldMkLst>
        <pc:spChg chg="mod">
          <ac:chgData name="MARIA EDUARDA ALVES DOS SANTOS" userId="S::maria.santos451@aluno.cps.sp.gov.br::cbf41173-5a1e-41cf-b72c-7a667970c2d0" providerId="AD" clId="Web-{BA1A4B53-6817-FE68-D66E-D835AC18D04E}" dt="2026-08-04T23:06:00.673" v="0" actId="1076"/>
          <ac:spMkLst>
            <pc:docMk/>
            <pc:sldMk cId="0" sldId="257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EA36AA-87A1-4B83-97B5-79F696E7779A}" type="datetimeFigureOut">
              <a:t>11/08/2026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E48DE-8AB9-4015-80C6-5C39B2427E73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1777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Programação Web II – Aula 1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 do curso e setup do ambiente · Curso Técnico em Desenvolvimento de Sistemas – ETEC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2122"/>
            <a:ext cx="4722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Vamos Construir?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058208" y="1097062"/>
            <a:ext cx="4722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</a:t>
            </a: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Sistema de Gestão Escolar completo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desenvolvido do zero ao longo do semestre — um projeto real que evolui a cada aula.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1503685"/>
            <a:ext cx="4722763" cy="717575"/>
          </a:xfrm>
          <a:prstGeom prst="roundRect">
            <a:avLst>
              <a:gd name="adj" fmla="val 73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56087" y="1634654"/>
            <a:ext cx="44608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👤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Autenticação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56087" y="1899345"/>
            <a:ext cx="44608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e perfil de usuário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925119" y="2333699"/>
            <a:ext cx="4722763" cy="717575"/>
          </a:xfrm>
          <a:prstGeom prst="roundRect">
            <a:avLst>
              <a:gd name="adj" fmla="val 73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56087" y="2464668"/>
            <a:ext cx="44608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Cadastros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56087" y="2729359"/>
            <a:ext cx="44608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Alunos, professores, cursos, turmas e disciplinas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925119" y="3163714"/>
            <a:ext cx="4722763" cy="717575"/>
          </a:xfrm>
          <a:prstGeom prst="roundRect">
            <a:avLst>
              <a:gd name="adj" fmla="val 73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56087" y="3294683"/>
            <a:ext cx="44608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Recursos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056087" y="3559373"/>
            <a:ext cx="44608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Dashboard, matrículas, relatórios, filtros e upload de foto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925119" y="3993728"/>
            <a:ext cx="4722763" cy="717575"/>
          </a:xfrm>
          <a:prstGeom prst="roundRect">
            <a:avLst>
              <a:gd name="adj" fmla="val 73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56087" y="4124697"/>
            <a:ext cx="44608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📱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Responsivo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056087" y="4389388"/>
            <a:ext cx="44608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 em qualquer dispositivo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6977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 Que Aprender Isso?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72878"/>
            <a:ext cx="5181377" cy="28263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68764" y="1239515"/>
            <a:ext cx="205978" cy="20597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63531" y="1235273"/>
            <a:ext cx="2189038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Sistemas web estão em todo lugar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463531" y="1797323"/>
            <a:ext cx="218903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Bancos, escolas, redes sociais, lojas — tudo roda na web.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68764" y="2500238"/>
            <a:ext cx="205978" cy="20597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63531" y="2495996"/>
            <a:ext cx="2189038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Alta demanda no mercado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463531" y="3058046"/>
            <a:ext cx="218903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Desenvolvedor front-end é uma das profissões mais requisitadas.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68764" y="3760961"/>
            <a:ext cx="205978" cy="20597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63531" y="3756720"/>
            <a:ext cx="218903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 sólida para o TCC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6463531" y="4104233"/>
            <a:ext cx="218903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projeto do semestre pode virar seu portfólio profissional.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0999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é uma SPA?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3650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Single Page Application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página não recarrega, só o conteúdo muda.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082254"/>
            <a:ext cx="3902943" cy="136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2243063"/>
            <a:ext cx="3505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🍽️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Site Tradicional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33127" y="2606278"/>
            <a:ext cx="350512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clique recarrega a página inteira — como </a:t>
            </a:r>
            <a:r>
              <a:rPr lang="en-US" sz="11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sair do restaurante a cada novo pedido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Lento e interrompido.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9701" y="2082254"/>
            <a:ext cx="3902943" cy="11384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86710" y="2243063"/>
            <a:ext cx="3505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SPA com React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986710" y="2606278"/>
            <a:ext cx="350512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Só o conteúdo muda — como o </a:t>
            </a:r>
            <a:r>
              <a:rPr lang="en-US" sz="11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garçom trazendo o pedido à mesa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Rápido, fluido e moderno.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96119" y="3766468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77" y="3967237"/>
            <a:ext cx="177180" cy="14175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56816" y="3943648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é a biblioteca JavaScript mais popular para criar SPAs no mercado atual.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306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Arquitetura do Curso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64096"/>
            <a:ext cx="65532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604072"/>
            <a:ext cx="86089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Essa é a arquitetura </a:t>
            </a: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full-stack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usaremos: o React roda no navegador, o Node.js processa as requisições no servidor e o MySQL armazena os dados.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5053"/>
            <a:ext cx="4722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Ferramentas do Curso</a:t>
            </a:r>
            <a:endParaRPr lang="en-US" sz="22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925339"/>
            <a:ext cx="287908" cy="2879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1330226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VS Code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96119" y="1566267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Editor de código com suporte a extensões e terminal integrado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920404"/>
            <a:ext cx="287908" cy="2879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6119" y="2325291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Node.js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496119" y="2561332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Executa JavaScript fora do navegador, no servidor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915469"/>
            <a:ext cx="287908" cy="2879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6119" y="3320355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&amp; GitHub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496119" y="3556397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Versionamento e armazenamento do código na nuvem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910533"/>
            <a:ext cx="287908" cy="2879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6119" y="4315420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Postman &amp; MySQL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496119" y="4551462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Testar APIs e gerenciar o banco de dados relacional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234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Instalando o Ambiente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1288852"/>
            <a:ext cx="6339185" cy="2901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6361" y="3501150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Criar GitHub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56456" y="3501150"/>
            <a:ext cx="11901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Instalar Git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64702" y="3386517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Instalar VS Code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40341" y="3386517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Instalar Node.js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349576"/>
            <a:ext cx="8608963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Após instalar, abra o terminal e execute </a:t>
            </a: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node -v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confirmar que tudo está funcionando corretamente.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233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Criando o Projeto com Vite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73994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Comandos no terminal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854919"/>
            <a:ext cx="2628230" cy="1417588"/>
          </a:xfrm>
          <a:prstGeom prst="roundRect">
            <a:avLst>
              <a:gd name="adj" fmla="val 420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66229" y="1996678"/>
            <a:ext cx="2288009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vite@latest frontend -- --template react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frontend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3431977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Vite cria toda a estrutura base do React em segundos, com hot-reload automático durante o desenvolvimento.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988" y="1487388"/>
            <a:ext cx="5177582" cy="28243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7062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Estrutura de Pastas do Projeto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32570"/>
            <a:ext cx="2670423" cy="8662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2016" y="1357685"/>
            <a:ext cx="1727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64642" y="1161976"/>
            <a:ext cx="197249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64642" y="1435447"/>
            <a:ext cx="197249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Página base carregada pelo navegador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92362"/>
            <a:ext cx="2670423" cy="8662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2016" y="2317477"/>
            <a:ext cx="1727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064642" y="2121768"/>
            <a:ext cx="197249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src/main.jsx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064642" y="2395240"/>
            <a:ext cx="197249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 de entrada — conecta o React ao HTML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952155"/>
            <a:ext cx="2670423" cy="69926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2016" y="3193777"/>
            <a:ext cx="1727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064642" y="3081561"/>
            <a:ext cx="197249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src/App.jsx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064642" y="3355032"/>
            <a:ext cx="197249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Componente principal da aplicação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744962"/>
            <a:ext cx="2670423" cy="86625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2016" y="4070077"/>
            <a:ext cx="1727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064642" y="3874368"/>
            <a:ext cx="197249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package.json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064642" y="4147840"/>
            <a:ext cx="197249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 de dependências e scripts do projeto</a:t>
            </a:r>
            <a:endParaRPr lang="en-US" sz="9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2292" y="1403524"/>
            <a:ext cx="5200278" cy="28367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1624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Primeiro Teste: Rodando o Projeto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914823"/>
            <a:ext cx="5179963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</a:t>
            </a: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acesse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http://localhost:5173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navegador.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305869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640" y="2452390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O que você verá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758901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página padrão do Vite + React com o logo animado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6119" y="3273996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2640" y="3420517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🧪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Teste o React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2640" y="3727028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Clique no botão de contador — ele atualiza sem recarregar a página!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233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&amp; GitHub: Salvando Seu Progresso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85020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Comandos essenciais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965945"/>
            <a:ext cx="2628230" cy="963960"/>
          </a:xfrm>
          <a:prstGeom prst="roundRect">
            <a:avLst>
              <a:gd name="adj" fmla="val 617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66229" y="2107704"/>
            <a:ext cx="228800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"primeiro commit"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3089374"/>
            <a:ext cx="2628230" cy="1138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Depois, crie um repositório no GitHub e envie com </a:t>
            </a: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Versionamento é o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histórico do seu projeto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essencial para o TCC e para trabalhar em equipe.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988" y="1487388"/>
            <a:ext cx="5177582" cy="28243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3087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Exercício e Desafio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573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79278"/>
            <a:ext cx="2622724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188220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Exercício obrigatório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494731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Criar o repositório no GitHub e subir o projeto inicial gerado pelo Vite.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8573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079278"/>
            <a:ext cx="2622724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2188220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Desafio opcional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60601" y="2494731"/>
            <a:ext cx="2622724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Personalizar o </a:t>
            </a: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altere o título da aba e o idioma — e modifique o texto exibido na página inicial.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8573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079278"/>
            <a:ext cx="2622724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083" y="2188220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Próxima aula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5083" y="2494731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Vamos criar nossos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primeiros componentes React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entender a estrutura JSX na prática.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445669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B6FCB8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646438"/>
            <a:ext cx="177180" cy="14175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56816" y="3622849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subir o projeto no GitHub até a próxima aula já estará um passo à frente! 🚀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36936D1B5E4C54EA94FFF58B25542D5" ma:contentTypeVersion="3" ma:contentTypeDescription="Crie um novo documento." ma:contentTypeScope="" ma:versionID="893c58ea87f33e8f3683e5d1cc038821">
  <xsd:schema xmlns:xsd="http://www.w3.org/2001/XMLSchema" xmlns:xs="http://www.w3.org/2001/XMLSchema" xmlns:p="http://schemas.microsoft.com/office/2006/metadata/properties" xmlns:ns2="a97ea620-bd91-4936-8934-7957480f18b3" targetNamespace="http://schemas.microsoft.com/office/2006/metadata/properties" ma:root="true" ma:fieldsID="e9b9583c7d831f47a41f051ce7769757" ns2:_="">
    <xsd:import namespace="a97ea620-bd91-4936-8934-7957480f18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7ea620-bd91-4936-8934-7957480f18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082CBA4-C224-4F82-8E9C-47FC9BA351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7ea620-bd91-4936-8934-7957480f18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4F2783-E325-4961-87C1-9AC223D7B7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5788CE-722C-429F-9828-464FAB58665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Apresentação na tela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5</cp:revision>
  <dcterms:created xsi:type="dcterms:W3CDTF">2026-08-02T17:34:22Z</dcterms:created>
  <dcterms:modified xsi:type="dcterms:W3CDTF">2026-08-11T23:33:27Z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0x010100336936D1B5E4C54EA94FFF58B25542D5</vt:lpwstr>
  </property>
</Properties>
</file>